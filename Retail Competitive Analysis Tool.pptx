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6393E-B666-47CD-8ECD-AD6B76C77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BBFABE-2B9F-48AD-AD40-7C44DD5EB9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CD64D-7477-4B17-855E-7DF05FF50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1900F-A316-415C-81EE-12ABAEA20594}" type="datetimeFigureOut">
              <a:rPr lang="en-US" smtClean="0"/>
              <a:t>5/11/2020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01E10-DFF2-4818-86DD-0539F75B7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FBD2F-BBAD-43BD-B0E3-C8404BF17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3CFC3-4F68-4ACF-B086-B7A349E89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408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D4B81-17E5-4A07-90C1-7EDFE6DBC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4D84B-6DA1-4D58-B4A6-808F72BD1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5BB43-35F4-433F-B315-BA45D5255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1900F-A316-415C-81EE-12ABAEA20594}" type="datetimeFigureOut">
              <a:rPr lang="en-US" smtClean="0"/>
              <a:t>5/11/2020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901C4-8A0E-4B0E-A243-149DBE034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5D2B0-5F46-4AA8-BE97-D622D5D9E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3CFC3-4F68-4ACF-B086-B7A349E89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972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C7AC0-8AAE-41BE-B244-A6E474DF8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918CEE-919E-4EFF-B235-8E4B584F3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37220-9BD7-4AAE-B232-9E13F9F4E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1900F-A316-415C-81EE-12ABAEA20594}" type="datetimeFigureOut">
              <a:rPr lang="en-US" smtClean="0"/>
              <a:t>5/11/2020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09A13-468B-44AB-ACDC-9D57B2B8D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2A47AE-B1C2-4F37-99BD-4DA0430D2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3CFC3-4F68-4ACF-B086-B7A349E89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857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05F27-AB27-417C-BC06-3A707FEA5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8A15A-9302-4D29-AE44-2465828B36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051FD6-8AED-44D1-A175-E0518C5B0A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C2C3E-5660-40A7-89F2-7A8804B56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1900F-A316-415C-81EE-12ABAEA20594}" type="datetimeFigureOut">
              <a:rPr lang="en-US" smtClean="0"/>
              <a:t>5/11/2020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AC95A7-9ABA-4F91-BC8C-2C3B4D91F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4814F9-03D1-4C13-B600-8E72C6619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3CFC3-4F68-4ACF-B086-B7A349E89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886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82DFB-40BC-42F5-8E73-DDE5B0A85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CFEC4-6F57-4759-B72B-D4ACAB2C6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219A51-A90F-4774-BEE5-291D832EA5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42143C-29B4-4EB8-9632-1001F83FE9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3443B9-F86E-4C62-B9E3-AA8082E0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9E4B3F-4E3A-4F84-B1DD-644805C2B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1900F-A316-415C-81EE-12ABAEA20594}" type="datetimeFigureOut">
              <a:rPr lang="en-US" smtClean="0"/>
              <a:t>5/11/2020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2C6D09-83FD-4FB1-9EC8-731207DBE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E30AF0-27F4-4C7A-9FA5-74576A77D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3CFC3-4F68-4ACF-B086-B7A349E89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146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BB46F-18B8-46E5-85A5-5EBCBBF11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7B274D-BC7E-4FBE-947B-98A4E2D6B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1900F-A316-415C-81EE-12ABAEA20594}" type="datetimeFigureOut">
              <a:rPr lang="en-US" smtClean="0"/>
              <a:t>5/11/2020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5793F5-CECC-450E-9D66-C5F3F2C55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84D198-2AD4-487D-A40A-16469E8FB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3CFC3-4F68-4ACF-B086-B7A349E89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642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879A83-5FCA-46DE-BCD0-B24A94E27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1900F-A316-415C-81EE-12ABAEA20594}" type="datetimeFigureOut">
              <a:rPr lang="en-US" smtClean="0"/>
              <a:t>5/11/2020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A653E-EE48-4F33-97F3-D0071EBB3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66E96C-2BCE-4E96-A690-B04DA3693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3CFC3-4F68-4ACF-B086-B7A349E89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330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63E8D-FB18-4307-A56A-DA2806D32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90480-FA48-492B-8819-A02DF1F210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AA097E-5FD6-4713-A1AC-40A378A03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440BD-4EAA-47FA-A97C-71F5DBC88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1900F-A316-415C-81EE-12ABAEA20594}" type="datetimeFigureOut">
              <a:rPr lang="en-US" smtClean="0"/>
              <a:t>5/11/2020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5444E0-9A14-412D-855B-73838B1D2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C1479A-EB3E-4DF0-B75B-744BB7C5C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3CFC3-4F68-4ACF-B086-B7A349E89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579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B3C8E-79CF-4A53-90A5-166D2FAE0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72E1CC-50E4-4D3F-A357-D1D768C340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D70FD2-E36F-4C84-937D-9CE01187E1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9E50B6-360A-419A-AB48-0181B5112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1900F-A316-415C-81EE-12ABAEA20594}" type="datetimeFigureOut">
              <a:rPr lang="en-US" smtClean="0"/>
              <a:t>5/11/2020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4F7D5D-9F3D-4805-A070-B63A8FC57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11AADA-B0B2-43DD-9C56-77CC617B0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3CFC3-4F68-4ACF-B086-B7A349E89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364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9E697-5EDB-432A-8156-895FC2093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5E8C6E-89A6-44AF-8DB0-34E7B6000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9D938E-989C-436D-9D65-DE35E16CE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1900F-A316-415C-81EE-12ABAEA20594}" type="datetimeFigureOut">
              <a:rPr lang="en-US" smtClean="0"/>
              <a:t>5/11/2020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718AE-EB94-4566-817C-8559B550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73620-D3B0-4463-A0BB-23EF048C8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3CFC3-4F68-4ACF-B086-B7A349E89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010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7F3F79-BC93-49C2-ABF1-4347C7F5A2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5B51F3-42FA-4C2B-9826-34F9E4A9BF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A1AE10-97EC-4A01-B519-F27389BA1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1900F-A316-415C-81EE-12ABAEA20594}" type="datetimeFigureOut">
              <a:rPr lang="en-US" smtClean="0"/>
              <a:t>5/11/2020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65B2B2-CCE3-4A01-82BB-B77413C49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077F1-0ED1-4E7B-A332-F7F0241DC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3CFC3-4F68-4ACF-B086-B7A349E89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23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700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8B13EB-EFBD-4BE0-A1D8-DAEF70378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FAF461-C24C-4508-B1BE-EBCF0FB0A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B6DEF-4C8A-4821-AA21-93AAC20821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C1900F-A316-415C-81EE-12ABAEA20594}" type="datetimeFigureOut">
              <a:rPr lang="en-US" smtClean="0"/>
              <a:t>5/11/2020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2B483-5A7C-4E04-BA45-FE1932C0D1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C3EC8-CEA5-434C-868B-C943CAA50B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03CFC3-4F68-4ACF-B086-B7A349E89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233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hopify.com/enterprise/global-ecommerce-marketplace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5" Type="http://schemas.openxmlformats.org/officeDocument/2006/relationships/image" Target="../media/image14.png"/><Relationship Id="rId4" Type="http://schemas.microsoft.com/office/2007/relationships/hdphoto" Target="../media/hdphoto2.wdp"/><Relationship Id="rId9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F8D29A0-C3CD-4284-846D-CFE3333E3A7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304282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F405C9-82D8-4542-B165-419BF8BF4B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Retail Competitive Analysis Tool </a:t>
            </a:r>
            <a:br>
              <a:rPr lang="en-US" dirty="0"/>
            </a:br>
            <a:r>
              <a:rPr lang="en-US" dirty="0"/>
              <a:t>Project Proposal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7A2E35-7DF1-47E9-A8B5-3A7526A6E0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Alicia Alarie</a:t>
            </a:r>
          </a:p>
        </p:txBody>
      </p:sp>
    </p:spTree>
    <p:extLst>
      <p:ext uri="{BB962C8B-B14F-4D97-AF65-F5344CB8AC3E}">
        <p14:creationId xmlns:p14="http://schemas.microsoft.com/office/powerpoint/2010/main" val="2392656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3EF23C9-D909-4135-AB50-715E4B0D75AC}"/>
              </a:ext>
            </a:extLst>
          </p:cNvPr>
          <p:cNvSpPr/>
          <p:nvPr/>
        </p:nvSpPr>
        <p:spPr>
          <a:xfrm>
            <a:off x="6440597" y="2733504"/>
            <a:ext cx="5000628" cy="258127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385D6F-1CF1-4CC7-BB51-BBB74D678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1E6BA-115B-4CFB-B92E-FA1AADDA3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0597" y="3052971"/>
            <a:ext cx="4781551" cy="2037931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Businesses may be unsure of how the market is changing to do technology trends or global events</a:t>
            </a:r>
          </a:p>
          <a:p>
            <a:r>
              <a:rPr lang="en-US" dirty="0"/>
              <a:t> They may have increasing competition and no visibility into how they stack up</a:t>
            </a:r>
          </a:p>
          <a:p>
            <a:r>
              <a:rPr lang="en-US" dirty="0"/>
              <a:t>They have too much data and not enough time to analyze effectively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1C2A58-67FD-4620-8057-18F3E8CDF648}"/>
              </a:ext>
            </a:extLst>
          </p:cNvPr>
          <p:cNvSpPr/>
          <p:nvPr/>
        </p:nvSpPr>
        <p:spPr>
          <a:xfrm>
            <a:off x="1038222" y="1420927"/>
            <a:ext cx="9944100" cy="67627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“The ability to learn faster than your competitors is maybe the only sustainable competitive advantage.” – Arie De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Geus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, Business Theorist &amp; Head of Shell Oil’s Strategic Planning Group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08A15C6-9132-4DDB-90CC-F2DD58134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587" y="4467124"/>
            <a:ext cx="3756367" cy="228973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0FA379D-8D73-4A18-9D38-63FCAF5B4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357" y="2185087"/>
            <a:ext cx="3756367" cy="2305298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C6926366-0182-4C1D-A2BF-A5D27E3B85B3}"/>
              </a:ext>
            </a:extLst>
          </p:cNvPr>
          <p:cNvGrpSpPr/>
          <p:nvPr/>
        </p:nvGrpSpPr>
        <p:grpSpPr>
          <a:xfrm>
            <a:off x="3949927" y="3529013"/>
            <a:ext cx="2403245" cy="2547937"/>
            <a:chOff x="8077714" y="3209642"/>
            <a:chExt cx="2403245" cy="254793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1A97758-BDB1-480B-9146-4540BABC664A}"/>
                </a:ext>
              </a:extLst>
            </p:cNvPr>
            <p:cNvSpPr/>
            <p:nvPr/>
          </p:nvSpPr>
          <p:spPr>
            <a:xfrm>
              <a:off x="8742647" y="3209642"/>
              <a:ext cx="1738312" cy="485774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Covid-19 Effects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5B9EB1D-3C55-4B16-A6AA-115C669372AB}"/>
                </a:ext>
              </a:extLst>
            </p:cNvPr>
            <p:cNvCxnSpPr>
              <a:cxnSpLocks/>
              <a:stCxn id="7" idx="2"/>
            </p:cNvCxnSpPr>
            <p:nvPr/>
          </p:nvCxnSpPr>
          <p:spPr>
            <a:xfrm flipH="1">
              <a:off x="8077714" y="3695416"/>
              <a:ext cx="1534089" cy="206216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02F55D9-A002-499E-90D9-1FA6B062E987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3800476" y="3771900"/>
            <a:ext cx="814384" cy="2522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682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2EB2BB0-9924-4653-BBEB-BD7801F01E46}"/>
              </a:ext>
            </a:extLst>
          </p:cNvPr>
          <p:cNvSpPr/>
          <p:nvPr/>
        </p:nvSpPr>
        <p:spPr>
          <a:xfrm>
            <a:off x="1148080" y="4017599"/>
            <a:ext cx="9956800" cy="192600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0569E7-EF5C-4E7D-A9C9-C023FAA3E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3F07F-2812-480E-96BD-76254C930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232" y="4017599"/>
            <a:ext cx="10515600" cy="2027238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Get an overview of another company’s place in the market/competitor space based on inventory information</a:t>
            </a:r>
          </a:p>
          <a:p>
            <a:pPr lvl="1"/>
            <a:r>
              <a:rPr lang="en-US" dirty="0"/>
              <a:t>Use scraped data in conjunction with annual reports to predict company’s health</a:t>
            </a:r>
          </a:p>
          <a:p>
            <a:pPr lvl="1"/>
            <a:r>
              <a:rPr lang="en-US" dirty="0"/>
              <a:t>Scrape daily to produce fine grain fluctuations in prices/ price tracking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0EE594-2C2E-4B67-AA76-8C282F90E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0454" y="813163"/>
            <a:ext cx="7334483" cy="28749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4CA842-E2CE-4384-A6D4-483CEB3CC415}"/>
              </a:ext>
            </a:extLst>
          </p:cNvPr>
          <p:cNvSpPr txBox="1"/>
          <p:nvPr/>
        </p:nvSpPr>
        <p:spPr>
          <a:xfrm>
            <a:off x="838200" y="2392478"/>
            <a:ext cx="3325812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Many existing solutions are too general and focus on website traffic and search keywords</a:t>
            </a:r>
          </a:p>
        </p:txBody>
      </p:sp>
    </p:spTree>
    <p:extLst>
      <p:ext uri="{BB962C8B-B14F-4D97-AF65-F5344CB8AC3E}">
        <p14:creationId xmlns:p14="http://schemas.microsoft.com/office/powerpoint/2010/main" val="1632569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0C29AD1-D6BA-4A03-ABD0-B07CA9BA2528}"/>
              </a:ext>
            </a:extLst>
          </p:cNvPr>
          <p:cNvSpPr/>
          <p:nvPr/>
        </p:nvSpPr>
        <p:spPr>
          <a:xfrm>
            <a:off x="85295" y="2026274"/>
            <a:ext cx="2716641" cy="193617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DCC88A-99D6-402B-BC93-691EFD85F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Data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48F39EA-922C-48AD-B135-1A540E6DB4F1}"/>
              </a:ext>
            </a:extLst>
          </p:cNvPr>
          <p:cNvGrpSpPr/>
          <p:nvPr/>
        </p:nvGrpSpPr>
        <p:grpSpPr>
          <a:xfrm>
            <a:off x="2801937" y="1638842"/>
            <a:ext cx="9220200" cy="4849706"/>
            <a:chOff x="3380540" y="423375"/>
            <a:chExt cx="8811460" cy="435133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7005C2D-756F-4E60-8439-715CA39722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597" t="13897" r="3921" b="8425"/>
            <a:stretch/>
          </p:blipFill>
          <p:spPr>
            <a:xfrm>
              <a:off x="3380540" y="423375"/>
              <a:ext cx="8811460" cy="4351338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E2D00EC-750B-4767-A3A4-1C9EF28E8645}"/>
                </a:ext>
              </a:extLst>
            </p:cNvPr>
            <p:cNvSpPr/>
            <p:nvPr/>
          </p:nvSpPr>
          <p:spPr>
            <a:xfrm>
              <a:off x="3738880" y="2145030"/>
              <a:ext cx="1371600" cy="426720"/>
            </a:xfrm>
            <a:prstGeom prst="rect">
              <a:avLst/>
            </a:prstGeom>
            <a:noFill/>
            <a:ln w="38100"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EB4FDF89-92BC-4C53-93C3-AA3499553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795" y="4734867"/>
            <a:ext cx="1106170" cy="5964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ED1430-7142-49FC-97F1-8AF5023D02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" y="4063695"/>
            <a:ext cx="1644015" cy="8040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5AED23-3989-4EA6-B994-8A8166F290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8952" y="4260091"/>
            <a:ext cx="1257935" cy="5942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BD47813-5C9E-4916-86E8-0E7F96FCFB18}"/>
              </a:ext>
            </a:extLst>
          </p:cNvPr>
          <p:cNvSpPr txBox="1"/>
          <p:nvPr/>
        </p:nvSpPr>
        <p:spPr>
          <a:xfrm>
            <a:off x="208280" y="2250781"/>
            <a:ext cx="2439670" cy="1477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The data was scraped using a web scraper to parse HTML and JSON, and is stored in an SQLite database. 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0162E2E-6D92-48FD-AFC7-FC275F757B5E}"/>
              </a:ext>
            </a:extLst>
          </p:cNvPr>
          <p:cNvCxnSpPr>
            <a:cxnSpLocks/>
            <a:stCxn id="5" idx="1"/>
            <a:endCxn id="10" idx="3"/>
          </p:cNvCxnSpPr>
          <p:nvPr/>
        </p:nvCxnSpPr>
        <p:spPr>
          <a:xfrm flipH="1" flipV="1">
            <a:off x="2647950" y="2989445"/>
            <a:ext cx="528949" cy="806034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1952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754F7DF-D3AD-40BE-8FC1-EB356661F827}"/>
              </a:ext>
            </a:extLst>
          </p:cNvPr>
          <p:cNvSpPr/>
          <p:nvPr/>
        </p:nvSpPr>
        <p:spPr>
          <a:xfrm>
            <a:off x="9258299" y="2733504"/>
            <a:ext cx="2809876" cy="3365259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C8D732-03BC-456E-8DF2-16EB0B0223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596" t="13897" r="8217" b="8425"/>
          <a:stretch/>
        </p:blipFill>
        <p:spPr>
          <a:xfrm>
            <a:off x="342900" y="1722299"/>
            <a:ext cx="8772525" cy="48497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5DA9C66-1261-4428-8B02-E71D405E0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0F591E-1569-4884-9A2C-AF235C9B3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2726" y="346075"/>
            <a:ext cx="2601148" cy="18796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FF45701-3A50-4127-A9F7-4EA6E3A19C3E}"/>
              </a:ext>
            </a:extLst>
          </p:cNvPr>
          <p:cNvSpPr txBox="1"/>
          <p:nvPr/>
        </p:nvSpPr>
        <p:spPr>
          <a:xfrm>
            <a:off x="9353549" y="2959442"/>
            <a:ext cx="2619374" cy="31393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dirty="0" err="1">
                <a:solidFill>
                  <a:schemeClr val="tx1"/>
                </a:solidFill>
              </a:rPr>
              <a:t>LightInTheBox</a:t>
            </a:r>
            <a:r>
              <a:rPr lang="en-US" dirty="0">
                <a:solidFill>
                  <a:schemeClr val="tx1"/>
                </a:solidFill>
              </a:rPr>
              <a:t> Holding Co., Ltd. takes in ~240 million in revenue annually, delivers products to consumers in over 200 countries, and has websites which are available in 26 major languages according to the company's website.</a:t>
            </a:r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C3C8B1-DF24-41A8-A63F-8C337210DE61}"/>
              </a:ext>
            </a:extLst>
          </p:cNvPr>
          <p:cNvSpPr/>
          <p:nvPr/>
        </p:nvSpPr>
        <p:spPr>
          <a:xfrm>
            <a:off x="7962900" y="1703249"/>
            <a:ext cx="885826" cy="5004008"/>
          </a:xfrm>
          <a:prstGeom prst="rect">
            <a:avLst/>
          </a:prstGeom>
          <a:noFill/>
          <a:ln w="38100">
            <a:headEnd type="none" w="med" len="med"/>
            <a:tailEnd type="none" w="med" len="me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B071584-5023-44CF-A60C-55775E3A978F}"/>
              </a:ext>
            </a:extLst>
          </p:cNvPr>
          <p:cNvCxnSpPr>
            <a:cxnSpLocks/>
            <a:stCxn id="8" idx="3"/>
            <a:endCxn id="5" idx="1"/>
          </p:cNvCxnSpPr>
          <p:nvPr/>
        </p:nvCxnSpPr>
        <p:spPr>
          <a:xfrm>
            <a:off x="8848726" y="4205253"/>
            <a:ext cx="504823" cy="3238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8A3339F-AA98-4F4C-85A8-210FF3CD9B59}"/>
              </a:ext>
            </a:extLst>
          </p:cNvPr>
          <p:cNvSpPr txBox="1"/>
          <p:nvPr/>
        </p:nvSpPr>
        <p:spPr>
          <a:xfrm>
            <a:off x="10563225" y="2225728"/>
            <a:ext cx="13906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* From </a:t>
            </a:r>
            <a:r>
              <a:rPr lang="en-US" sz="800" b="1" dirty="0">
                <a:hlinkClick r:id="rId4"/>
              </a:rPr>
              <a:t>Shopify</a:t>
            </a:r>
            <a:r>
              <a:rPr lang="en-US" sz="800" dirty="0"/>
              <a:t> and </a:t>
            </a:r>
            <a:r>
              <a:rPr lang="en-US" sz="700" dirty="0"/>
              <a:t>Statista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033660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3FA60-446A-4443-82F8-2790DC27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505"/>
            <a:ext cx="10515600" cy="8223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/>
              <a:t>Data Exploration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284BAE9E-1476-4BBA-8556-FE5059FDC7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" y="1053147"/>
            <a:ext cx="5603875" cy="531336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D4BBD91D-8D78-4E41-BAE4-E824B126692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78"/>
          <a:stretch/>
        </p:blipFill>
        <p:spPr bwMode="auto">
          <a:xfrm>
            <a:off x="5554219" y="1052831"/>
            <a:ext cx="6627622" cy="541908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5221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925B0-8593-446E-81B9-417F9F98A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7975"/>
            <a:ext cx="10515600" cy="1325563"/>
          </a:xfrm>
        </p:spPr>
        <p:txBody>
          <a:bodyPr/>
          <a:lstStyle/>
          <a:p>
            <a:r>
              <a:rPr lang="en-US" dirty="0"/>
              <a:t>Future Work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5C86B6-2425-4605-9B08-99DFA0FCEF5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79"/>
          <a:stretch/>
        </p:blipFill>
        <p:spPr>
          <a:xfrm>
            <a:off x="1365972" y="1319213"/>
            <a:ext cx="8854440" cy="4978308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8EF035AC-FC04-4E7E-A546-C7FB774463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7797" y="3538101"/>
            <a:ext cx="2614844" cy="224062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B41218-6575-439D-9FFB-061911014E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rcRect l="3319" t="15724" r="6640" b="5506"/>
          <a:stretch/>
        </p:blipFill>
        <p:spPr>
          <a:xfrm>
            <a:off x="1889859" y="3891915"/>
            <a:ext cx="3021866" cy="19358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3F93BA2-C807-4AC8-B79F-E7E30066B7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0524" y="1428749"/>
            <a:ext cx="614363" cy="6143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E6DAF0-D811-4C4C-BF69-504B15813C8E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35632" b="31035"/>
          <a:stretch/>
        </p:blipFill>
        <p:spPr>
          <a:xfrm>
            <a:off x="2116844" y="1487288"/>
            <a:ext cx="1550194" cy="31003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2050323-6515-4C8A-9EE9-30D6B82FF2AC}"/>
              </a:ext>
            </a:extLst>
          </p:cNvPr>
          <p:cNvSpPr txBox="1"/>
          <p:nvPr/>
        </p:nvSpPr>
        <p:spPr>
          <a:xfrm>
            <a:off x="1837705" y="3477819"/>
            <a:ext cx="174307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Popular Regions</a:t>
            </a:r>
          </a:p>
          <a:p>
            <a:endParaRPr lang="en-US" sz="1200" dirty="0">
              <a:latin typeface="+mj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10FBC5-8AB3-4726-ACA9-2649BC9AAF41}"/>
              </a:ext>
            </a:extLst>
          </p:cNvPr>
          <p:cNvSpPr/>
          <p:nvPr/>
        </p:nvSpPr>
        <p:spPr>
          <a:xfrm>
            <a:off x="2309439" y="2257425"/>
            <a:ext cx="443286" cy="2000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3A73A8-8474-460B-AFC1-2C74A6FDF6F7}"/>
              </a:ext>
            </a:extLst>
          </p:cNvPr>
          <p:cNvSpPr/>
          <p:nvPr/>
        </p:nvSpPr>
        <p:spPr>
          <a:xfrm>
            <a:off x="3626412" y="2237422"/>
            <a:ext cx="1517088" cy="2200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573954-900D-45CC-A72F-790A50A77A5A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 l="11675" t="46092" b="6866"/>
          <a:stretch/>
        </p:blipFill>
        <p:spPr>
          <a:xfrm>
            <a:off x="8086724" y="4362722"/>
            <a:ext cx="1562199" cy="193479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BEB2E69-316B-4143-A613-DB511B398D9B}"/>
              </a:ext>
            </a:extLst>
          </p:cNvPr>
          <p:cNvSpPr txBox="1"/>
          <p:nvPr/>
        </p:nvSpPr>
        <p:spPr>
          <a:xfrm>
            <a:off x="7996285" y="4196749"/>
            <a:ext cx="174307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Sales Predictions</a:t>
            </a:r>
          </a:p>
          <a:p>
            <a:endParaRPr lang="en-US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52934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224</Words>
  <Application>Microsoft Office PowerPoint</Application>
  <PresentationFormat>Widescreen</PresentationFormat>
  <Paragraphs>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Retail Competitive Analysis Tool  Project Proposal</vt:lpstr>
      <vt:lpstr>Motivation</vt:lpstr>
      <vt:lpstr>Project Goals</vt:lpstr>
      <vt:lpstr>The Data</vt:lpstr>
      <vt:lpstr>The Data</vt:lpstr>
      <vt:lpstr>Data Exploration</vt:lpstr>
      <vt:lpstr>Future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Competitive Analysis Tool</dc:title>
  <dc:creator>Alicia Alarie</dc:creator>
  <cp:lastModifiedBy>Alicia Alarie</cp:lastModifiedBy>
  <cp:revision>16</cp:revision>
  <dcterms:created xsi:type="dcterms:W3CDTF">2020-05-13T17:44:09Z</dcterms:created>
  <dcterms:modified xsi:type="dcterms:W3CDTF">2020-05-13T20:38:49Z</dcterms:modified>
</cp:coreProperties>
</file>